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9" d="100"/>
          <a:sy n="149" d="100"/>
        </p:scale>
        <p:origin x="-630" y="-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27/02/2021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CuadroTexto"/>
          <p:cNvSpPr txBox="1"/>
          <p:nvPr/>
        </p:nvSpPr>
        <p:spPr>
          <a:xfrm>
            <a:off x="179512" y="699542"/>
            <a:ext cx="432048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Ray equation:  S + D·t</a:t>
            </a:r>
          </a:p>
          <a:p>
            <a:r>
              <a:rPr lang="es-ES" sz="1100" smtClean="0"/>
              <a:t>We want the minimum </a:t>
            </a:r>
            <a:r>
              <a:rPr lang="es-ES" sz="1100" b="1" smtClean="0">
                <a:solidFill>
                  <a:srgbClr val="C00000"/>
                </a:solidFill>
              </a:rPr>
              <a:t>t</a:t>
            </a:r>
            <a:r>
              <a:rPr lang="es-ES" sz="1100" smtClean="0"/>
              <a:t> where a collision happens, i.e. </a:t>
            </a:r>
            <a:r>
              <a:rPr lang="es-ES" sz="1100" b="1" smtClean="0">
                <a:solidFill>
                  <a:srgbClr val="C00000"/>
                </a:solidFill>
              </a:rPr>
              <a:t>t</a:t>
            </a:r>
            <a:r>
              <a:rPr lang="es-ES" sz="1100" smtClean="0"/>
              <a:t> at point  </a:t>
            </a:r>
            <a:r>
              <a:rPr lang="es-ES" sz="1100" smtClean="0">
                <a:latin typeface="Verdana" pitchFamily="34" charset="0"/>
                <a:ea typeface="Verdana" pitchFamily="34" charset="0"/>
                <a:cs typeface="Verdana" pitchFamily="34" charset="0"/>
              </a:rPr>
              <a:t>I</a:t>
            </a:r>
            <a:r>
              <a:rPr lang="es-ES" sz="900" smtClean="0"/>
              <a:t>1</a:t>
            </a:r>
            <a:r>
              <a:rPr lang="es-ES" sz="1100" smtClean="0"/>
              <a:t>.</a:t>
            </a:r>
          </a:p>
        </p:txBody>
      </p:sp>
      <p:sp>
        <p:nvSpPr>
          <p:cNvPr id="42" name="41 Rectángulo"/>
          <p:cNvSpPr/>
          <p:nvPr/>
        </p:nvSpPr>
        <p:spPr>
          <a:xfrm>
            <a:off x="5148064" y="555526"/>
            <a:ext cx="3744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smtClean="0">
                <a:solidFill>
                  <a:srgbClr val="FF0000"/>
                </a:solidFill>
              </a:rPr>
              <a:t>SC</a:t>
            </a:r>
            <a:r>
              <a:rPr lang="es-ES" smtClean="0"/>
              <a:t> ● </a:t>
            </a:r>
            <a:r>
              <a:rPr lang="es-ES" b="1" smtClean="0">
                <a:solidFill>
                  <a:srgbClr val="FF0000"/>
                </a:solidFill>
              </a:rPr>
              <a:t>D</a:t>
            </a:r>
            <a:r>
              <a:rPr lang="es-ES" smtClean="0"/>
              <a:t> = |</a:t>
            </a:r>
            <a:r>
              <a:rPr lang="es-ES" b="1" smtClean="0">
                <a:solidFill>
                  <a:srgbClr val="FF0000"/>
                </a:solidFill>
              </a:rPr>
              <a:t>SC</a:t>
            </a:r>
            <a:r>
              <a:rPr lang="es-ES" smtClean="0"/>
              <a:t>|·|</a:t>
            </a:r>
            <a:r>
              <a:rPr lang="es-ES" b="1" smtClean="0">
                <a:solidFill>
                  <a:srgbClr val="FF0000"/>
                </a:solidFill>
              </a:rPr>
              <a:t>D</a:t>
            </a:r>
            <a:r>
              <a:rPr lang="es-ES" smtClean="0"/>
              <a:t>|· Cos </a:t>
            </a:r>
            <a:r>
              <a:rPr lang="el-GR" smtClean="0"/>
              <a:t>α</a:t>
            </a:r>
            <a:r>
              <a:rPr lang="es-ES" smtClean="0"/>
              <a:t> = |</a:t>
            </a:r>
            <a:r>
              <a:rPr lang="es-ES" b="1" smtClean="0">
                <a:solidFill>
                  <a:srgbClr val="FF0000"/>
                </a:solidFill>
              </a:rPr>
              <a:t>SN</a:t>
            </a:r>
            <a:r>
              <a:rPr lang="es-ES" smtClean="0"/>
              <a:t>|·|</a:t>
            </a:r>
            <a:r>
              <a:rPr lang="es-ES" b="1" smtClean="0">
                <a:solidFill>
                  <a:srgbClr val="FF0000"/>
                </a:solidFill>
              </a:rPr>
              <a:t>D</a:t>
            </a:r>
            <a:r>
              <a:rPr lang="es-ES" smtClean="0"/>
              <a:t>| </a:t>
            </a:r>
          </a:p>
        </p:txBody>
      </p:sp>
      <p:grpSp>
        <p:nvGrpSpPr>
          <p:cNvPr id="51" name="50 Grupo"/>
          <p:cNvGrpSpPr/>
          <p:nvPr/>
        </p:nvGrpSpPr>
        <p:grpSpPr>
          <a:xfrm>
            <a:off x="323528" y="1563638"/>
            <a:ext cx="3744416" cy="3146286"/>
            <a:chOff x="755576" y="289560"/>
            <a:chExt cx="3744416" cy="3146286"/>
          </a:xfrm>
        </p:grpSpPr>
        <p:sp>
          <p:nvSpPr>
            <p:cNvPr id="4" name="3 Elipse"/>
            <p:cNvSpPr/>
            <p:nvPr/>
          </p:nvSpPr>
          <p:spPr>
            <a:xfrm>
              <a:off x="1403648" y="2665824"/>
              <a:ext cx="216024" cy="21602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6" name="5 Conector recto de flecha"/>
            <p:cNvCxnSpPr/>
            <p:nvPr/>
          </p:nvCxnSpPr>
          <p:spPr>
            <a:xfrm flipV="1">
              <a:off x="1547664" y="2089760"/>
              <a:ext cx="936104" cy="669162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flipV="1">
              <a:off x="755576" y="1009640"/>
              <a:ext cx="3240360" cy="23042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17 CuadroTexto"/>
            <p:cNvSpPr txBox="1"/>
            <p:nvPr/>
          </p:nvSpPr>
          <p:spPr>
            <a:xfrm>
              <a:off x="1475656" y="2881848"/>
              <a:ext cx="72008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mtClean="0"/>
                <a:t>S</a:t>
              </a:r>
            </a:p>
            <a:p>
              <a:r>
                <a:rPr lang="es-ES" sz="1100" smtClean="0"/>
                <a:t>Ray start</a:t>
              </a:r>
              <a:endParaRPr lang="es-ES" sz="1100"/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1979712" y="2415247"/>
              <a:ext cx="1368152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mtClean="0">
                  <a:solidFill>
                    <a:srgbClr val="FF0000"/>
                  </a:solidFill>
                </a:rPr>
                <a:t>D</a:t>
              </a:r>
            </a:p>
            <a:p>
              <a:r>
                <a:rPr lang="es-ES" sz="1100" smtClean="0"/>
                <a:t>Ray  direction vector</a:t>
              </a:r>
              <a:endParaRPr lang="es-ES" sz="1100"/>
            </a:p>
          </p:txBody>
        </p:sp>
        <p:sp>
          <p:nvSpPr>
            <p:cNvPr id="21" name="20 Elipse"/>
            <p:cNvSpPr/>
            <p:nvPr/>
          </p:nvSpPr>
          <p:spPr>
            <a:xfrm>
              <a:off x="2267744" y="289560"/>
              <a:ext cx="1512168" cy="151216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21 Elipse"/>
            <p:cNvSpPr/>
            <p:nvPr/>
          </p:nvSpPr>
          <p:spPr>
            <a:xfrm>
              <a:off x="3707904" y="1081648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22 Elipse"/>
            <p:cNvSpPr/>
            <p:nvPr/>
          </p:nvSpPr>
          <p:spPr>
            <a:xfrm>
              <a:off x="2771800" y="1729720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2843808" y="180172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I</a:t>
              </a:r>
              <a:r>
                <a:rPr lang="es-ES" sz="1100" smtClean="0"/>
                <a:t>1</a:t>
              </a:r>
              <a:endParaRPr lang="es-ES" sz="1100"/>
            </a:p>
          </p:txBody>
        </p:sp>
        <p:sp>
          <p:nvSpPr>
            <p:cNvPr id="25" name="24 CuadroTexto"/>
            <p:cNvSpPr txBox="1"/>
            <p:nvPr/>
          </p:nvSpPr>
          <p:spPr>
            <a:xfrm>
              <a:off x="3779912" y="1153656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I</a:t>
              </a:r>
              <a:r>
                <a:rPr lang="es-ES" sz="1100" smtClean="0"/>
                <a:t>2</a:t>
              </a:r>
              <a:endParaRPr lang="es-ES" sz="1100"/>
            </a:p>
          </p:txBody>
        </p:sp>
        <p:sp>
          <p:nvSpPr>
            <p:cNvPr id="26" name="25 Elipse"/>
            <p:cNvSpPr/>
            <p:nvPr/>
          </p:nvSpPr>
          <p:spPr>
            <a:xfrm>
              <a:off x="2915816" y="937632"/>
              <a:ext cx="216024" cy="216024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2699792" y="483518"/>
              <a:ext cx="1152128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smtClean="0"/>
                <a:t>Circle center</a:t>
              </a:r>
            </a:p>
            <a:p>
              <a:r>
                <a:rPr lang="es-ES" smtClean="0"/>
                <a:t>       C</a:t>
              </a:r>
            </a:p>
          </p:txBody>
        </p:sp>
        <p:cxnSp>
          <p:nvCxnSpPr>
            <p:cNvPr id="29" name="28 Conector recto"/>
            <p:cNvCxnSpPr/>
            <p:nvPr/>
          </p:nvCxnSpPr>
          <p:spPr>
            <a:xfrm flipV="1">
              <a:off x="1475656" y="1081648"/>
              <a:ext cx="1512168" cy="1728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32 Conector recto"/>
            <p:cNvCxnSpPr/>
            <p:nvPr/>
          </p:nvCxnSpPr>
          <p:spPr>
            <a:xfrm flipH="1" flipV="1">
              <a:off x="2987824" y="1009640"/>
              <a:ext cx="36004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36 Elipse"/>
            <p:cNvSpPr/>
            <p:nvPr/>
          </p:nvSpPr>
          <p:spPr>
            <a:xfrm>
              <a:off x="3203848" y="1369680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37 CuadroTexto"/>
            <p:cNvSpPr txBox="1"/>
            <p:nvPr/>
          </p:nvSpPr>
          <p:spPr>
            <a:xfrm>
              <a:off x="3419872" y="1585704"/>
              <a:ext cx="1080120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mtClean="0"/>
                <a:t>N</a:t>
              </a:r>
            </a:p>
            <a:p>
              <a:r>
                <a:rPr lang="es-ES" sz="1100" smtClean="0"/>
                <a:t>Nearest point</a:t>
              </a:r>
              <a:endParaRPr lang="es-ES" sz="1100"/>
            </a:p>
          </p:txBody>
        </p:sp>
        <p:sp>
          <p:nvSpPr>
            <p:cNvPr id="39" name="38 Arco"/>
            <p:cNvSpPr/>
            <p:nvPr/>
          </p:nvSpPr>
          <p:spPr>
            <a:xfrm>
              <a:off x="1475656" y="2161768"/>
              <a:ext cx="648072" cy="648072"/>
            </a:xfrm>
            <a:prstGeom prst="arc">
              <a:avLst>
                <a:gd name="adj1" fmla="val 18192717"/>
                <a:gd name="adj2" fmla="val 20507931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39 Rectángulo"/>
            <p:cNvSpPr/>
            <p:nvPr/>
          </p:nvSpPr>
          <p:spPr>
            <a:xfrm>
              <a:off x="1663600" y="1945744"/>
              <a:ext cx="3161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smtClean="0"/>
                <a:t>α</a:t>
              </a:r>
              <a:endParaRPr lang="es-ES" smtClean="0"/>
            </a:p>
          </p:txBody>
        </p:sp>
        <p:cxnSp>
          <p:nvCxnSpPr>
            <p:cNvPr id="44" name="43 Conector recto"/>
            <p:cNvCxnSpPr/>
            <p:nvPr/>
          </p:nvCxnSpPr>
          <p:spPr>
            <a:xfrm>
              <a:off x="2267744" y="1059582"/>
              <a:ext cx="720080" cy="0"/>
            </a:xfrm>
            <a:prstGeom prst="line">
              <a:avLst/>
            </a:prstGeom>
            <a:ln w="1905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49 Rectángulo"/>
            <p:cNvSpPr/>
            <p:nvPr/>
          </p:nvSpPr>
          <p:spPr>
            <a:xfrm>
              <a:off x="2390092" y="699542"/>
              <a:ext cx="3097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mtClean="0"/>
                <a:t>R</a:t>
              </a:r>
            </a:p>
          </p:txBody>
        </p:sp>
      </p:grpSp>
      <p:sp>
        <p:nvSpPr>
          <p:cNvPr id="52" name="51 Rectángulo"/>
          <p:cNvSpPr/>
          <p:nvPr/>
        </p:nvSpPr>
        <p:spPr>
          <a:xfrm>
            <a:off x="5004048" y="771550"/>
            <a:ext cx="19442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smtClean="0"/>
              <a:t> </a:t>
            </a:r>
            <a:r>
              <a:rPr lang="es-ES" smtClean="0"/>
              <a:t>|</a:t>
            </a:r>
            <a:r>
              <a:rPr lang="es-ES" b="1" smtClean="0">
                <a:solidFill>
                  <a:srgbClr val="FF0000"/>
                </a:solidFill>
              </a:rPr>
              <a:t>SN</a:t>
            </a:r>
            <a:r>
              <a:rPr lang="es-ES" smtClean="0"/>
              <a:t>| = |</a:t>
            </a:r>
            <a:r>
              <a:rPr lang="es-ES" b="1" smtClean="0">
                <a:solidFill>
                  <a:srgbClr val="FF0000"/>
                </a:solidFill>
              </a:rPr>
              <a:t>D</a:t>
            </a:r>
            <a:r>
              <a:rPr lang="es-ES" smtClean="0"/>
              <a:t>|· t(N) </a:t>
            </a:r>
          </a:p>
        </p:txBody>
      </p:sp>
      <p:sp>
        <p:nvSpPr>
          <p:cNvPr id="28" name="27 Rectángulo"/>
          <p:cNvSpPr/>
          <p:nvPr/>
        </p:nvSpPr>
        <p:spPr>
          <a:xfrm>
            <a:off x="5076056" y="1338322"/>
            <a:ext cx="2232248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mtClean="0"/>
              <a:t>t(N) = (</a:t>
            </a:r>
            <a:r>
              <a:rPr lang="es-ES" b="1" smtClean="0">
                <a:solidFill>
                  <a:srgbClr val="FF0000"/>
                </a:solidFill>
              </a:rPr>
              <a:t>SC</a:t>
            </a:r>
            <a:r>
              <a:rPr lang="es-ES" smtClean="0"/>
              <a:t> ● </a:t>
            </a:r>
            <a:r>
              <a:rPr lang="es-ES" b="1" smtClean="0">
                <a:solidFill>
                  <a:srgbClr val="FF0000"/>
                </a:solidFill>
              </a:rPr>
              <a:t>D</a:t>
            </a:r>
            <a:r>
              <a:rPr lang="es-ES" smtClean="0"/>
              <a:t>) / |</a:t>
            </a:r>
            <a:r>
              <a:rPr lang="es-ES" b="1" smtClean="0">
                <a:solidFill>
                  <a:srgbClr val="FF0000"/>
                </a:solidFill>
              </a:rPr>
              <a:t>D</a:t>
            </a:r>
            <a:r>
              <a:rPr lang="es-ES" smtClean="0"/>
              <a:t>|</a:t>
            </a:r>
            <a:r>
              <a:rPr lang="es-ES" baseline="30000" smtClean="0"/>
              <a:t>2</a:t>
            </a:r>
            <a:r>
              <a:rPr lang="es-ES" smtClean="0"/>
              <a:t>  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5076056" y="195486"/>
            <a:ext cx="3995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smtClean="0"/>
              <a:t>Find t at the line point nearest to the circle center</a:t>
            </a:r>
          </a:p>
        </p:txBody>
      </p:sp>
      <p:sp>
        <p:nvSpPr>
          <p:cNvPr id="31" name="30 Elipse"/>
          <p:cNvSpPr/>
          <p:nvPr/>
        </p:nvSpPr>
        <p:spPr>
          <a:xfrm>
            <a:off x="4644008" y="195486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mtClean="0"/>
              <a:t>1</a:t>
            </a:r>
            <a:endParaRPr lang="es-ES"/>
          </a:p>
        </p:txBody>
      </p:sp>
      <p:sp>
        <p:nvSpPr>
          <p:cNvPr id="32" name="31 CuadroTexto"/>
          <p:cNvSpPr txBox="1"/>
          <p:nvPr/>
        </p:nvSpPr>
        <p:spPr>
          <a:xfrm>
            <a:off x="5076056" y="2067694"/>
            <a:ext cx="3995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smtClean="0"/>
              <a:t>Find the minimum line-circle distance</a:t>
            </a:r>
          </a:p>
        </p:txBody>
      </p:sp>
      <p:sp>
        <p:nvSpPr>
          <p:cNvPr id="34" name="33 Elipse"/>
          <p:cNvSpPr/>
          <p:nvPr/>
        </p:nvSpPr>
        <p:spPr>
          <a:xfrm>
            <a:off x="4644008" y="2067694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mtClean="0"/>
              <a:t>2</a:t>
            </a:r>
            <a:endParaRPr lang="es-ES"/>
          </a:p>
        </p:txBody>
      </p:sp>
      <p:sp>
        <p:nvSpPr>
          <p:cNvPr id="35" name="34 CuadroTexto"/>
          <p:cNvSpPr txBox="1"/>
          <p:nvPr/>
        </p:nvSpPr>
        <p:spPr>
          <a:xfrm>
            <a:off x="5076056" y="3363838"/>
            <a:ext cx="3995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smtClean="0"/>
              <a:t>Find t at the first intersection point</a:t>
            </a:r>
          </a:p>
        </p:txBody>
      </p:sp>
      <p:sp>
        <p:nvSpPr>
          <p:cNvPr id="36" name="35 Elipse"/>
          <p:cNvSpPr/>
          <p:nvPr/>
        </p:nvSpPr>
        <p:spPr>
          <a:xfrm>
            <a:off x="4644008" y="3354546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mtClean="0"/>
              <a:t>3</a:t>
            </a:r>
            <a:endParaRPr lang="es-ES"/>
          </a:p>
        </p:txBody>
      </p:sp>
      <p:sp>
        <p:nvSpPr>
          <p:cNvPr id="41" name="40 CuadroTexto"/>
          <p:cNvSpPr txBox="1"/>
          <p:nvPr/>
        </p:nvSpPr>
        <p:spPr>
          <a:xfrm>
            <a:off x="5076056" y="2768029"/>
            <a:ext cx="4067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smtClean="0"/>
              <a:t>If Distance &gt; R, there is no intersection (end here)</a:t>
            </a:r>
          </a:p>
        </p:txBody>
      </p:sp>
      <p:sp>
        <p:nvSpPr>
          <p:cNvPr id="43" name="42 Rectángulo"/>
          <p:cNvSpPr/>
          <p:nvPr/>
        </p:nvSpPr>
        <p:spPr>
          <a:xfrm>
            <a:off x="5076056" y="2407989"/>
            <a:ext cx="3528392" cy="369332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s-ES" b="1" smtClean="0">
                <a:solidFill>
                  <a:srgbClr val="FF0000"/>
                </a:solidFill>
              </a:rPr>
              <a:t>N</a:t>
            </a:r>
            <a:r>
              <a:rPr lang="es-ES" smtClean="0"/>
              <a:t> = </a:t>
            </a:r>
            <a:r>
              <a:rPr lang="es-ES" b="1" smtClean="0">
                <a:solidFill>
                  <a:srgbClr val="FF0000"/>
                </a:solidFill>
              </a:rPr>
              <a:t>S </a:t>
            </a:r>
            <a:r>
              <a:rPr lang="es-ES" smtClean="0"/>
              <a:t>+ </a:t>
            </a:r>
            <a:r>
              <a:rPr lang="es-ES" b="1" smtClean="0">
                <a:solidFill>
                  <a:srgbClr val="FF0000"/>
                </a:solidFill>
              </a:rPr>
              <a:t>D </a:t>
            </a:r>
            <a:r>
              <a:rPr lang="es-ES" smtClean="0"/>
              <a:t>· t(N)  </a:t>
            </a:r>
            <a:r>
              <a:rPr lang="es-ES" smtClean="0">
                <a:sym typeface="Wingdings" pitchFamily="2" charset="2"/>
              </a:rPr>
              <a:t>  Distance =</a:t>
            </a:r>
            <a:r>
              <a:rPr lang="es-ES" smtClean="0"/>
              <a:t>|</a:t>
            </a:r>
            <a:r>
              <a:rPr lang="es-ES" b="1" smtClean="0">
                <a:solidFill>
                  <a:srgbClr val="FF0000"/>
                </a:solidFill>
              </a:rPr>
              <a:t>CN</a:t>
            </a:r>
            <a:r>
              <a:rPr lang="es-ES" smtClean="0"/>
              <a:t>|</a:t>
            </a:r>
            <a:r>
              <a:rPr lang="es-ES" smtClean="0">
                <a:sym typeface="Wingdings" pitchFamily="2" charset="2"/>
              </a:rPr>
              <a:t> </a:t>
            </a:r>
            <a:endParaRPr lang="es-ES" smtClean="0"/>
          </a:p>
        </p:txBody>
      </p:sp>
      <p:sp>
        <p:nvSpPr>
          <p:cNvPr id="45" name="44 Rectángulo"/>
          <p:cNvSpPr/>
          <p:nvPr/>
        </p:nvSpPr>
        <p:spPr>
          <a:xfrm>
            <a:off x="5148064" y="4515966"/>
            <a:ext cx="2088232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ES" smtClean="0"/>
              <a:t>t(</a:t>
            </a:r>
            <a:r>
              <a:rPr lang="es-ES" sz="1400" smtClean="0">
                <a:latin typeface="Verdana" pitchFamily="34" charset="0"/>
                <a:ea typeface="Verdana" pitchFamily="34" charset="0"/>
                <a:cs typeface="Verdana" pitchFamily="34" charset="0"/>
              </a:rPr>
              <a:t>I</a:t>
            </a:r>
            <a:r>
              <a:rPr lang="es-ES" sz="1100" smtClean="0"/>
              <a:t>1</a:t>
            </a:r>
            <a:r>
              <a:rPr lang="es-ES" smtClean="0"/>
              <a:t>) = t(N) - ∆t(N,</a:t>
            </a:r>
            <a:r>
              <a:rPr lang="es-ES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ES" sz="1400" smtClean="0">
                <a:latin typeface="Verdana" pitchFamily="34" charset="0"/>
                <a:ea typeface="Verdana" pitchFamily="34" charset="0"/>
                <a:cs typeface="Verdana" pitchFamily="34" charset="0"/>
              </a:rPr>
              <a:t>I</a:t>
            </a:r>
            <a:r>
              <a:rPr lang="es-ES" sz="1100" smtClean="0"/>
              <a:t>1</a:t>
            </a:r>
            <a:r>
              <a:rPr lang="es-ES" smtClean="0"/>
              <a:t>)</a:t>
            </a:r>
          </a:p>
        </p:txBody>
      </p:sp>
      <p:sp>
        <p:nvSpPr>
          <p:cNvPr id="46" name="45 Rectángulo"/>
          <p:cNvSpPr/>
          <p:nvPr/>
        </p:nvSpPr>
        <p:spPr>
          <a:xfrm>
            <a:off x="5076056" y="3714586"/>
            <a:ext cx="29523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mtClean="0"/>
              <a:t>|</a:t>
            </a:r>
            <a:r>
              <a:rPr lang="es-ES" b="1" smtClean="0">
                <a:solidFill>
                  <a:srgbClr val="FF0000"/>
                </a:solidFill>
              </a:rPr>
              <a:t>N</a:t>
            </a:r>
            <a:r>
              <a:rPr lang="es-ES" sz="1600" b="1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</a:t>
            </a:r>
            <a:r>
              <a:rPr lang="es-ES" sz="1200" b="1" smtClean="0">
                <a:solidFill>
                  <a:srgbClr val="FF0000"/>
                </a:solidFill>
              </a:rPr>
              <a:t>1</a:t>
            </a:r>
            <a:r>
              <a:rPr lang="es-ES" smtClean="0"/>
              <a:t>|</a:t>
            </a:r>
            <a:r>
              <a:rPr lang="es-ES" baseline="30000" smtClean="0"/>
              <a:t>2</a:t>
            </a:r>
            <a:r>
              <a:rPr lang="es-ES" smtClean="0"/>
              <a:t> = </a:t>
            </a:r>
            <a:r>
              <a:rPr lang="es-ES" smtClean="0"/>
              <a:t>R</a:t>
            </a:r>
            <a:r>
              <a:rPr lang="es-ES" baseline="30000" smtClean="0"/>
              <a:t>2</a:t>
            </a:r>
            <a:r>
              <a:rPr lang="es-ES" smtClean="0"/>
              <a:t> </a:t>
            </a:r>
            <a:r>
              <a:rPr lang="es-ES" smtClean="0"/>
              <a:t>- </a:t>
            </a:r>
            <a:r>
              <a:rPr lang="es-ES" smtClean="0"/>
              <a:t>Distance</a:t>
            </a:r>
            <a:r>
              <a:rPr lang="es-ES" baseline="30000" smtClean="0"/>
              <a:t>2</a:t>
            </a:r>
            <a:endParaRPr lang="es-ES" smtClean="0"/>
          </a:p>
        </p:txBody>
      </p:sp>
      <p:sp>
        <p:nvSpPr>
          <p:cNvPr id="47" name="46 Rectángulo"/>
          <p:cNvSpPr/>
          <p:nvPr/>
        </p:nvSpPr>
        <p:spPr>
          <a:xfrm>
            <a:off x="5076056" y="4074626"/>
            <a:ext cx="3960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mtClean="0"/>
              <a:t>|</a:t>
            </a:r>
            <a:r>
              <a:rPr lang="es-ES" b="1" smtClean="0">
                <a:solidFill>
                  <a:srgbClr val="FF0000"/>
                </a:solidFill>
              </a:rPr>
              <a:t>N</a:t>
            </a:r>
            <a:r>
              <a:rPr lang="es-ES" sz="1600" b="1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</a:t>
            </a:r>
            <a:r>
              <a:rPr lang="es-ES" sz="1200" b="1" smtClean="0">
                <a:solidFill>
                  <a:srgbClr val="FF0000"/>
                </a:solidFill>
              </a:rPr>
              <a:t>1</a:t>
            </a:r>
            <a:r>
              <a:rPr lang="es-ES" smtClean="0"/>
              <a:t>| = |</a:t>
            </a:r>
            <a:r>
              <a:rPr lang="es-ES" b="1" smtClean="0">
                <a:solidFill>
                  <a:srgbClr val="FF0000"/>
                </a:solidFill>
              </a:rPr>
              <a:t>D</a:t>
            </a:r>
            <a:r>
              <a:rPr lang="es-ES" smtClean="0"/>
              <a:t>|· ∆t(N,</a:t>
            </a:r>
            <a:r>
              <a:rPr lang="es-ES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ES" sz="1400" smtClean="0">
                <a:latin typeface="Verdana" pitchFamily="34" charset="0"/>
                <a:ea typeface="Verdana" pitchFamily="34" charset="0"/>
                <a:cs typeface="Verdana" pitchFamily="34" charset="0"/>
              </a:rPr>
              <a:t>I</a:t>
            </a:r>
            <a:r>
              <a:rPr lang="es-ES" sz="1100" smtClean="0"/>
              <a:t>1</a:t>
            </a:r>
            <a:r>
              <a:rPr lang="es-ES" smtClean="0"/>
              <a:t>) = </a:t>
            </a:r>
            <a:r>
              <a:rPr lang="es-ES" smtClean="0"/>
              <a:t>   </a:t>
            </a:r>
            <a:r>
              <a:rPr lang="es-ES" smtClean="0"/>
              <a:t>R</a:t>
            </a:r>
            <a:r>
              <a:rPr lang="es-ES" baseline="30000" smtClean="0"/>
              <a:t>2</a:t>
            </a:r>
            <a:r>
              <a:rPr lang="es-ES" smtClean="0"/>
              <a:t> </a:t>
            </a:r>
            <a:r>
              <a:rPr lang="es-ES" smtClean="0"/>
              <a:t>- Distance</a:t>
            </a:r>
            <a:r>
              <a:rPr lang="es-ES" baseline="30000" smtClean="0"/>
              <a:t>2</a:t>
            </a:r>
            <a:r>
              <a:rPr lang="es-ES" smtClean="0"/>
              <a:t>   </a:t>
            </a:r>
            <a:endParaRPr lang="es-ES" smtClean="0"/>
          </a:p>
        </p:txBody>
      </p:sp>
      <p:cxnSp>
        <p:nvCxnSpPr>
          <p:cNvPr id="49" name="48 Conector recto"/>
          <p:cNvCxnSpPr/>
          <p:nvPr/>
        </p:nvCxnSpPr>
        <p:spPr>
          <a:xfrm>
            <a:off x="4427984" y="0"/>
            <a:ext cx="0" cy="51435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52 Rectángulo"/>
          <p:cNvSpPr/>
          <p:nvPr/>
        </p:nvSpPr>
        <p:spPr>
          <a:xfrm>
            <a:off x="179512" y="123478"/>
            <a:ext cx="41044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smtClean="0"/>
              <a:t>2D Ray-Circle intersection</a:t>
            </a:r>
            <a:endParaRPr lang="es-ES" sz="2000" b="1"/>
          </a:p>
        </p:txBody>
      </p:sp>
      <p:cxnSp>
        <p:nvCxnSpPr>
          <p:cNvPr id="55" name="54 Conector recto"/>
          <p:cNvCxnSpPr/>
          <p:nvPr/>
        </p:nvCxnSpPr>
        <p:spPr>
          <a:xfrm>
            <a:off x="251520" y="483518"/>
            <a:ext cx="38884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>
            <a:off x="4427984" y="1923678"/>
            <a:ext cx="4716016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>
            <a:off x="4427984" y="3219822"/>
            <a:ext cx="4716016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64 Grupo"/>
          <p:cNvGrpSpPr/>
          <p:nvPr/>
        </p:nvGrpSpPr>
        <p:grpSpPr>
          <a:xfrm>
            <a:off x="7380312" y="4083918"/>
            <a:ext cx="1512168" cy="360040"/>
            <a:chOff x="7380312" y="4083918"/>
            <a:chExt cx="1512168" cy="360040"/>
          </a:xfrm>
        </p:grpSpPr>
        <p:cxnSp>
          <p:nvCxnSpPr>
            <p:cNvPr id="54" name="53 Conector recto"/>
            <p:cNvCxnSpPr/>
            <p:nvPr/>
          </p:nvCxnSpPr>
          <p:spPr>
            <a:xfrm>
              <a:off x="7380312" y="4155926"/>
              <a:ext cx="72008" cy="2880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59 Conector recto"/>
            <p:cNvCxnSpPr/>
            <p:nvPr/>
          </p:nvCxnSpPr>
          <p:spPr>
            <a:xfrm flipV="1">
              <a:off x="7452320" y="4083918"/>
              <a:ext cx="0" cy="360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62 Conector recto"/>
            <p:cNvCxnSpPr/>
            <p:nvPr/>
          </p:nvCxnSpPr>
          <p:spPr>
            <a:xfrm>
              <a:off x="7452320" y="4083918"/>
              <a:ext cx="14401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167</Words>
  <Application>Microsoft Office PowerPoint</Application>
  <PresentationFormat>Presentación en pantalla (16:9)</PresentationFormat>
  <Paragraphs>29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Diapositiva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Centor</cp:lastModifiedBy>
  <cp:revision>24</cp:revision>
  <dcterms:created xsi:type="dcterms:W3CDTF">2021-02-26T06:30:49Z</dcterms:created>
  <dcterms:modified xsi:type="dcterms:W3CDTF">2021-02-27T14:41:43Z</dcterms:modified>
</cp:coreProperties>
</file>